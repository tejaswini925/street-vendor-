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9" r:id="rId1"/>
  </p:sldMasterIdLst>
  <p:notesMasterIdLst>
    <p:notesMasterId r:id="rId21"/>
  </p:notesMasterIdLst>
  <p:sldIdLst>
    <p:sldId id="283" r:id="rId2"/>
    <p:sldId id="257" r:id="rId3"/>
    <p:sldId id="297" r:id="rId4"/>
    <p:sldId id="296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7" r:id="rId14"/>
    <p:sldId id="264" r:id="rId15"/>
    <p:sldId id="308" r:id="rId16"/>
    <p:sldId id="309" r:id="rId17"/>
    <p:sldId id="310" r:id="rId18"/>
    <p:sldId id="311" r:id="rId19"/>
    <p:sldId id="31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80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8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0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0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30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7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1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70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74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5584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936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79248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7073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91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8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7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903" y="3903663"/>
            <a:ext cx="8596669" cy="1926865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5"/>
                </a:solidFill>
              </a:rPr>
              <a:t>Street Vendor Digitalization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2038255"/>
              </p:ext>
            </p:extLst>
          </p:nvPr>
        </p:nvGraphicFramePr>
        <p:xfrm>
          <a:off x="690625" y="2600314"/>
          <a:ext cx="9210460" cy="308304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24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5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845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Tejaswini A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tejaswinia821@gmail.com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9538078331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0624" y="1460724"/>
            <a:ext cx="894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Financial Inclusion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5574" y="551965"/>
            <a:ext cx="8357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Street Vendor Digitalization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EA7D8-9AB5-55AF-FAD8-2D61DAF9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748" y="4005168"/>
            <a:ext cx="1954776" cy="1599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E857-80D0-673D-2158-F1EE61DA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40774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8F56C-58B7-8E9D-C517-7A14C56A5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5677"/>
            <a:ext cx="8596668" cy="5034117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sz="2200" b="1" dirty="0"/>
              <a:t>Street Vendor Digitalization Agent</a:t>
            </a:r>
            <a:r>
              <a:rPr lang="en-US" sz="2200" dirty="0"/>
              <a:t> </a:t>
            </a:r>
            <a:endParaRPr lang="en-US" sz="2200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algn="just" fontAlgn="base"/>
            <a:r>
              <a:rPr lang="en-US" dirty="0"/>
              <a:t>Millions of street vendors and micro-entrepreneurs across India operate entirely offline, and struggle with </a:t>
            </a:r>
            <a:r>
              <a:rPr lang="en-US" b="1" dirty="0"/>
              <a:t>business visibility, digital payments, and access to formal credit</a:t>
            </a:r>
            <a:r>
              <a:rPr lang="en-US" dirty="0"/>
              <a:t>. Information about relevant government schemes, listing platforms, and payment setup is scattered across many portals and rarely reaches vendors directly. Without </a:t>
            </a:r>
            <a:r>
              <a:rPr lang="en-US" b="1" dirty="0"/>
              <a:t>personalized, real-time guidance</a:t>
            </a:r>
            <a:r>
              <a:rPr lang="en-US" dirty="0"/>
              <a:t>, many vendors remain excluded from the digital and formal economy. 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algn="just" fontAlgn="base"/>
            <a:r>
              <a:rPr lang="en-US" dirty="0"/>
              <a:t>Build an </a:t>
            </a:r>
            <a:r>
              <a:rPr lang="en-US" b="1" dirty="0"/>
              <a:t>AI-powered Street Vendor Digitalization Agent</a:t>
            </a:r>
            <a:r>
              <a:rPr lang="en-US" dirty="0"/>
              <a:t> that delivers </a:t>
            </a:r>
            <a:r>
              <a:rPr lang="en-US" b="1" dirty="0"/>
              <a:t>one-sentence-to-storefront digital onboarding</a:t>
            </a:r>
            <a:r>
              <a:rPr lang="en-US" dirty="0"/>
              <a:t> for street vendors and micro-entrepreneurs. The solution should: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Personalized Business Profile</a:t>
            </a:r>
            <a:r>
              <a:rPr lang="en-US" dirty="0"/>
              <a:t> – Generate a business name, bio, and listing text from one plain-language sentence, in the vendor’s own language.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Local Scheme &amp; Platform RAG Retrieval</a:t>
            </a:r>
            <a:r>
              <a:rPr lang="en-US" dirty="0"/>
              <a:t> – Fetch and summarize live details from PM </a:t>
            </a:r>
            <a:r>
              <a:rPr lang="en-US" dirty="0" err="1"/>
              <a:t>SVANidhi</a:t>
            </a:r>
            <a:r>
              <a:rPr lang="en-US" dirty="0"/>
              <a:t>, ONDC, and Google Business Profile onboarding sources.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05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1043-E5B6-0B77-A358-99AF9BC8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9342" y="609600"/>
            <a:ext cx="609600" cy="8849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E872-A0CA-2980-17F5-254320C4F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62117"/>
            <a:ext cx="8596668" cy="5579246"/>
          </a:xfrm>
        </p:spPr>
        <p:txBody>
          <a:bodyPr>
            <a:normAutofit/>
          </a:bodyPr>
          <a:lstStyle/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Digital Payment Enablement</a:t>
            </a:r>
            <a:r>
              <a:rPr lang="en-US" dirty="0"/>
              <a:t> – Guide vendors step-by-step through UPI QR code setup so they can accept digital payments immediately.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Hyperlocal Promotion</a:t>
            </a:r>
            <a:r>
              <a:rPr lang="en-US" dirty="0"/>
              <a:t> – Suggest pricing tips, local SEO, and promotional content suited to the vendor’s exact trade and area.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> –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Business Profile Agent</a:t>
            </a:r>
            <a:r>
              <a:rPr lang="en-US" dirty="0"/>
              <a:t> (generates name, bio, and listing text)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Scheme &amp; Listing Agent</a:t>
            </a:r>
            <a:r>
              <a:rPr lang="en-US" dirty="0"/>
              <a:t> (retrieves scheme and platform data via RAG)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Payment Enablement Agent</a:t>
            </a:r>
            <a:r>
              <a:rPr lang="en-US" dirty="0"/>
              <a:t> (walks through UPI QR setup)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Promotion Agent</a:t>
            </a:r>
            <a:r>
              <a:rPr lang="en-US" dirty="0"/>
              <a:t> (pricing tips and local promotion ideas) 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/>
              <a:t>Vendor Dashboard</a:t>
            </a:r>
            <a:r>
              <a:rPr lang="en-US" dirty="0"/>
              <a:t> – Show the generated profile, saved action plan, and a quick-start checklist for going digital.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07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3AD1-2CC2-28CD-7D04-66A307B0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3961"/>
            <a:ext cx="8596668" cy="855407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CC53-E75C-A0F5-0500-59CE97F66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9368"/>
            <a:ext cx="8596668" cy="5181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Proposed Solution: AI-Powered Street Vendor Digitalization Agent</a:t>
            </a:r>
          </a:p>
          <a:p>
            <a:pPr algn="just"/>
            <a:r>
              <a:rPr lang="en-US" dirty="0"/>
              <a:t>The proposed solution is a </a:t>
            </a:r>
            <a:r>
              <a:rPr lang="en-US" b="1" dirty="0"/>
              <a:t>multi-agent AI-powered Street Vendor Digitalization Agent</a:t>
            </a:r>
            <a:r>
              <a:rPr lang="en-US" dirty="0"/>
              <a:t> built using </a:t>
            </a: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Orchestrate, IBM watsonx.ai, and Granite Models</a:t>
            </a:r>
            <a:r>
              <a:rPr lang="en-US" dirty="0"/>
              <a:t> to take a vendor from a single spoken sentence to a usable digital storefront. The system addresses gaps in business visibility, scheme access, and digital payment adoption through an intelligent, modular architecture.</a:t>
            </a:r>
          </a:p>
          <a:p>
            <a:pPr algn="just"/>
            <a:r>
              <a:rPr lang="en-US" dirty="0"/>
              <a:t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> pipeline to fetch accurate, current information from trusted sources such as PM </a:t>
            </a:r>
            <a:r>
              <a:rPr lang="en-US" dirty="0" err="1"/>
              <a:t>SVANidhi</a:t>
            </a:r>
            <a:r>
              <a:rPr lang="en-US" dirty="0"/>
              <a:t>, ONDC, and Google Business Profile. This data is embedded and stored in a vector database, enabling the system to retrieve and ground scheme, listing, and payment guidance using Granite models.</a:t>
            </a:r>
          </a:p>
          <a:p>
            <a:pPr algn="just"/>
            <a:r>
              <a:rPr lang="en-US" dirty="0"/>
              <a:t>The system consists of four key agents:</a:t>
            </a:r>
          </a:p>
          <a:p>
            <a:pPr algn="just"/>
            <a:r>
              <a:rPr lang="en-US" b="1" dirty="0"/>
              <a:t>Business Profile Agent</a:t>
            </a:r>
            <a:r>
              <a:rPr lang="en-US" dirty="0"/>
              <a:t> generates a business name, bio, and listing text from the vendor’s plain-language input. </a:t>
            </a:r>
          </a:p>
          <a:p>
            <a:pPr algn="just"/>
            <a:r>
              <a:rPr lang="en-US" b="1" dirty="0"/>
              <a:t>Scheme &amp; Listing Agent</a:t>
            </a:r>
            <a:r>
              <a:rPr lang="en-US" dirty="0"/>
              <a:t> retrieves relevant government schemes and platform onboarding steps using RAG.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975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4C4F-4829-B996-2E96-54558FC8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0903973" y="609601"/>
            <a:ext cx="265470" cy="31463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09929-813F-957A-E9F2-316F8094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09601"/>
            <a:ext cx="8596668" cy="5431761"/>
          </a:xfrm>
        </p:spPr>
        <p:txBody>
          <a:bodyPr/>
          <a:lstStyle/>
          <a:p>
            <a:pPr algn="just"/>
            <a:r>
              <a:rPr lang="en-US" b="1" dirty="0"/>
              <a:t>Payment Enablement Agent</a:t>
            </a:r>
            <a:r>
              <a:rPr lang="en-US" dirty="0"/>
              <a:t> walks the vendor through UPI QR code setup for digital payments. </a:t>
            </a:r>
          </a:p>
          <a:p>
            <a:pPr algn="just"/>
            <a:r>
              <a:rPr lang="en-US" b="1" dirty="0"/>
              <a:t>Promotion Agent</a:t>
            </a:r>
            <a:r>
              <a:rPr lang="en-US" dirty="0"/>
              <a:t> generates pricing tips and hyperlocal promotion ideas suited to the vendor’s trade and area. </a:t>
            </a:r>
          </a:p>
          <a:p>
            <a:pPr algn="just"/>
            <a:r>
              <a:rPr lang="en-US" dirty="0"/>
              <a:t>The solution includes a </a:t>
            </a:r>
            <a:r>
              <a:rPr lang="en-US" b="1" dirty="0"/>
              <a:t>simple, card-based vendor dashboard</a:t>
            </a:r>
            <a:r>
              <a:rPr lang="en-US" dirty="0"/>
              <a:t> (built with React) that displays the generated profile, action plan, and a quick-start checklist for going digital.</a:t>
            </a:r>
          </a:p>
          <a:p>
            <a:pPr algn="just"/>
            <a:r>
              <a:rPr lang="en-US" dirty="0"/>
              <a:t>IBM </a:t>
            </a:r>
            <a:r>
              <a:rPr lang="en-US" dirty="0" err="1"/>
              <a:t>watsonx</a:t>
            </a:r>
            <a:r>
              <a:rPr lang="en-US" dirty="0"/>
              <a:t> Orchestrate is used to orchestrate agent workflows, while watsonx.ai ensures scalable model deployment, embeddings, and AI governance. Granite models power reasoning, summarization, and personalization.</a:t>
            </a:r>
          </a:p>
          <a:p>
            <a:pPr algn="just"/>
            <a:r>
              <a:rPr lang="en-US" dirty="0"/>
              <a:t>Overall, this solution delivers an </a:t>
            </a:r>
            <a:r>
              <a:rPr lang="en-US" b="1" dirty="0"/>
              <a:t>end-to-end intelligent digitalization assistant</a:t>
            </a:r>
            <a:r>
              <a:rPr lang="en-US" dirty="0"/>
              <a:t> that helps street vendors gain visibility, access credit, and accept digital payments.</a:t>
            </a:r>
          </a:p>
          <a:p>
            <a:pPr algn="just"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920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75BB-51B1-4944-C9EC-CAB956AA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9432"/>
          </a:xfrm>
        </p:spPr>
        <p:txBody>
          <a:bodyPr>
            <a:normAutofit fontScale="90000"/>
          </a:bodyPr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F6413-EBB1-7B48-95D5-08A60035B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6853"/>
            <a:ext cx="8596668" cy="4684510"/>
          </a:xfrm>
        </p:spPr>
        <p:txBody>
          <a:bodyPr>
            <a:normAutofit fontScale="92500"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IBM Granite model </a:t>
            </a:r>
            <a:r>
              <a:rPr lang="en-US" dirty="0"/>
              <a:t>-  for </a:t>
            </a:r>
            <a:r>
              <a:rPr lang="en-US" dirty="0" err="1"/>
              <a:t>eg</a:t>
            </a:r>
            <a:r>
              <a:rPr lang="en-US" dirty="0"/>
              <a:t> – ibm-granite-3-2-8b – For natural language understanding, reasoning, and generating vendor profiles and guidance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IBM Cloud </a:t>
            </a:r>
            <a:r>
              <a:rPr lang="en-US" dirty="0"/>
              <a:t>– It provides the infrastructure to build, deploy, and scale the Street Vendor Digitalization Agent efficiently. IBM Cloud enables a </a:t>
            </a:r>
            <a:r>
              <a:rPr lang="en-US" b="1" dirty="0"/>
              <a:t>reliable, secure, and scalable environment</a:t>
            </a:r>
            <a:r>
              <a:rPr lang="en-US" dirty="0"/>
              <a:t> for deploying the agent to thousands of vendors.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RAG– </a:t>
            </a:r>
            <a:r>
              <a:rPr lang="en-US" dirty="0"/>
              <a:t>RAG to </a:t>
            </a:r>
            <a:r>
              <a:rPr lang="en-US" b="1" dirty="0"/>
              <a:t>fetch real scheme and platform data first, then generate grounded guidance</a:t>
            </a:r>
            <a:r>
              <a:rPr lang="en-US" dirty="0"/>
              <a:t>, making the agent more trustworthy and effective.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IBM Watsonx.ai - </a:t>
            </a:r>
            <a:r>
              <a:rPr lang="en-US" dirty="0"/>
              <a:t>For model deployment, embeddings, and AI governance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Vector Database </a:t>
            </a:r>
            <a:r>
              <a:rPr lang="en-IN" dirty="0"/>
              <a:t>(FAISS/Chroma) – For RAG-based retrieval of scheme and platform documents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49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7451-3DF6-0372-57A7-F8F87A8A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3291"/>
            <a:ext cx="8596668" cy="816078"/>
          </a:xfrm>
        </p:spPr>
        <p:txBody>
          <a:bodyPr/>
          <a:lstStyle/>
          <a:p>
            <a:r>
              <a:rPr lang="en-IN" dirty="0"/>
              <a:t>Orchestrate components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4ED84-C5A3-6F32-900D-7BC701F99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12" y="1209369"/>
            <a:ext cx="8596668" cy="4798142"/>
          </a:xfrm>
        </p:spPr>
        <p:txBody>
          <a:bodyPr>
            <a:normAutofit/>
          </a:bodyPr>
          <a:lstStyle/>
          <a:p>
            <a:pPr algn="just"/>
            <a:r>
              <a:rPr lang="en-US" sz="1900" b="1" dirty="0"/>
              <a:t>1) Chat Input </a:t>
            </a:r>
            <a:r>
              <a:rPr lang="en-US" sz="1900" dirty="0"/>
              <a:t>– Interface where vendors enter their business description in plain language (text/voice).</a:t>
            </a:r>
          </a:p>
          <a:p>
            <a:pPr algn="just"/>
            <a:r>
              <a:rPr lang="en-US" sz="1900" b="1" dirty="0"/>
              <a:t>2) IBM </a:t>
            </a:r>
            <a:r>
              <a:rPr lang="en-US" sz="1900" b="1" dirty="0" err="1"/>
              <a:t>watsonx</a:t>
            </a:r>
            <a:r>
              <a:rPr lang="en-US" sz="1900" b="1" dirty="0"/>
              <a:t> AI Agent </a:t>
            </a:r>
            <a:r>
              <a:rPr lang="en-US" sz="1900" dirty="0"/>
              <a:t>- Processes vendor input using Granite models to generate a grounded business profile and action plan. </a:t>
            </a:r>
          </a:p>
          <a:p>
            <a:pPr algn="just"/>
            <a:r>
              <a:rPr lang="en-US" sz="1900" b="1" dirty="0"/>
              <a:t>3) Name of IBM Granite model - </a:t>
            </a:r>
            <a:r>
              <a:rPr lang="en-US" sz="1900" dirty="0"/>
              <a:t>Granite-3-2-8B-Instruct → Fast, efficient for real-time profile and guidance generation</a:t>
            </a:r>
          </a:p>
          <a:p>
            <a:pPr algn="just"/>
            <a:r>
              <a:rPr lang="en-US" sz="1900" b="1" dirty="0"/>
              <a:t>4) Chat output -</a:t>
            </a:r>
            <a:r>
              <a:rPr lang="en-US" sz="1900" dirty="0"/>
              <a:t>Displays the generated business profile, pricing tips, listing steps, QR setup, and promotion ideas. </a:t>
            </a:r>
          </a:p>
          <a:p>
            <a:pPr algn="just"/>
            <a:r>
              <a:rPr lang="en-US" sz="1900" b="1" dirty="0"/>
              <a:t>5) </a:t>
            </a:r>
            <a:r>
              <a:rPr lang="en-US" sz="1900" b="1" dirty="0">
                <a:highlight>
                  <a:srgbClr val="FFFF00"/>
                </a:highlight>
              </a:rPr>
              <a:t>File component - </a:t>
            </a:r>
            <a:r>
              <a:rPr lang="en-US" sz="1900" dirty="0">
                <a:highlight>
                  <a:srgbClr val="FFFF00"/>
                </a:highlight>
              </a:rPr>
              <a:t>Stores and retrieves scheme documents, onboarding guides, and vendor session data for retrieval.</a:t>
            </a:r>
            <a:endParaRPr lang="en-US" sz="1900" dirty="0"/>
          </a:p>
          <a:p>
            <a:pPr algn="just"/>
            <a:r>
              <a:rPr lang="en-US" sz="1900" dirty="0"/>
              <a:t>6) </a:t>
            </a:r>
            <a:r>
              <a:rPr lang="en-US" sz="1900" dirty="0">
                <a:highlight>
                  <a:srgbClr val="FFFF00"/>
                </a:highlight>
              </a:rPr>
              <a:t>Web Search / Knowledge Base tool – connects to PM </a:t>
            </a:r>
            <a:r>
              <a:rPr lang="en-US" sz="1900" dirty="0" err="1">
                <a:highlight>
                  <a:srgbClr val="FFFF00"/>
                </a:highlight>
              </a:rPr>
              <a:t>SVANidhi</a:t>
            </a:r>
            <a:r>
              <a:rPr lang="en-US" sz="1900" dirty="0">
                <a:highlight>
                  <a:srgbClr val="FFFF00"/>
                </a:highlight>
              </a:rPr>
              <a:t>, ONDC, and Google Business Profile sources for grounded retrieval.</a:t>
            </a:r>
          </a:p>
          <a:p>
            <a:pPr algn="just">
              <a:buAutoNum type="arabicParenR" startAt="3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82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BE05-41AD-E518-5630-69390A75B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01446"/>
            <a:ext cx="8596668" cy="7669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ym typeface="Times New Roman" panose="02020603050405020304"/>
              </a:rPr>
              <a:t>Agent Instructions Screenshot</a:t>
            </a:r>
            <a:br>
              <a:rPr lang="en-US" b="1" dirty="0">
                <a:sym typeface="Times New Roman" panose="02020603050405020304"/>
              </a:rPr>
            </a:br>
            <a:endParaRPr lang="en-IN" dirty="0"/>
          </a:p>
        </p:txBody>
      </p:sp>
      <p:pic>
        <p:nvPicPr>
          <p:cNvPr id="5" name="Agent Instructions Screenshot">
            <a:extLst>
              <a:ext uri="{FF2B5EF4-FFF2-40B4-BE49-F238E27FC236}">
                <a16:creationId xmlns:a16="http://schemas.microsoft.com/office/drawing/2014/main" id="{6B73B666-7334-7B84-1D7C-2C6E67E41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967" y="1444625"/>
            <a:ext cx="6438104" cy="4690704"/>
          </a:xfrm>
          <a:prstGeom prst="rect">
            <a:avLst/>
          </a:prstGeom>
          <a:ln w="15875">
            <a:solidFill>
              <a:srgbClr val="9A9A9A"/>
            </a:solidFill>
          </a:ln>
        </p:spPr>
      </p:pic>
    </p:spTree>
    <p:extLst>
      <p:ext uri="{BB962C8B-B14F-4D97-AF65-F5344CB8AC3E}">
        <p14:creationId xmlns:p14="http://schemas.microsoft.com/office/powerpoint/2010/main" val="91844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313E-FDD8-290E-46C4-A2AF4ED5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2787"/>
            <a:ext cx="8596668" cy="855407"/>
          </a:xfrm>
        </p:spPr>
        <p:txBody>
          <a:bodyPr/>
          <a:lstStyle/>
          <a:p>
            <a:r>
              <a:rPr lang="en-US" b="1" dirty="0">
                <a:sym typeface="Times New Roman" panose="02020603050405020304"/>
              </a:rPr>
              <a:t>Document Uploaded Screenshot</a:t>
            </a:r>
            <a:endParaRPr lang="en-IN" dirty="0"/>
          </a:p>
        </p:txBody>
      </p:sp>
      <p:pic>
        <p:nvPicPr>
          <p:cNvPr id="5" name="Reference Sources">
            <a:extLst>
              <a:ext uri="{FF2B5EF4-FFF2-40B4-BE49-F238E27FC236}">
                <a16:creationId xmlns:a16="http://schemas.microsoft.com/office/drawing/2014/main" id="{03E9868D-4251-989C-0BFE-A42BA2D1B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480" y="1278194"/>
            <a:ext cx="7943077" cy="476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40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75EE-2BC3-A71B-09FB-2213BB8C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581"/>
          </a:xfrm>
        </p:spPr>
        <p:txBody>
          <a:bodyPr/>
          <a:lstStyle/>
          <a:p>
            <a:r>
              <a:rPr lang="en-US" b="1" dirty="0">
                <a:sym typeface="Times New Roman" panose="02020603050405020304"/>
              </a:rPr>
              <a:t>Prompt with output Screenshot</a:t>
            </a:r>
            <a:endParaRPr lang="en-IN" dirty="0"/>
          </a:p>
        </p:txBody>
      </p:sp>
      <p:pic>
        <p:nvPicPr>
          <p:cNvPr id="5" name="Prompt Output Screenshot">
            <a:extLst>
              <a:ext uri="{FF2B5EF4-FFF2-40B4-BE49-F238E27FC236}">
                <a16:creationId xmlns:a16="http://schemas.microsoft.com/office/drawing/2014/main" id="{FDDD0180-F939-B349-9445-14B4ADB30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810" y="1543050"/>
            <a:ext cx="7464418" cy="4705350"/>
          </a:xfrm>
          <a:prstGeom prst="rect">
            <a:avLst/>
          </a:prstGeom>
          <a:ln w="15875">
            <a:solidFill>
              <a:srgbClr val="9A9A9A"/>
            </a:solidFill>
          </a:ln>
        </p:spPr>
      </p:pic>
    </p:spTree>
    <p:extLst>
      <p:ext uri="{BB962C8B-B14F-4D97-AF65-F5344CB8AC3E}">
        <p14:creationId xmlns:p14="http://schemas.microsoft.com/office/powerpoint/2010/main" val="1303377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0367-2F4D-A426-97A6-6637F165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2116"/>
            <a:ext cx="8596668" cy="85540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ym typeface="Times New Roman" panose="02020603050405020304"/>
              </a:rPr>
              <a:t>Other Applicable Screenshots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M SVANidhi Prompt Output 1">
            <a:extLst>
              <a:ext uri="{FF2B5EF4-FFF2-40B4-BE49-F238E27FC236}">
                <a16:creationId xmlns:a16="http://schemas.microsoft.com/office/drawing/2014/main" id="{D1B73D6D-F74D-0C91-29C1-5149BED0B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185" y="1522136"/>
            <a:ext cx="3591682" cy="4600000"/>
          </a:xfrm>
          <a:prstGeom prst="rect">
            <a:avLst/>
          </a:prstGeom>
          <a:ln w="12700">
            <a:solidFill>
              <a:srgbClr val="9A9A9A"/>
            </a:solidFill>
          </a:ln>
        </p:spPr>
      </p:pic>
      <p:pic>
        <p:nvPicPr>
          <p:cNvPr id="7" name="PM SVANidhi Prompt Output 2">
            <a:extLst>
              <a:ext uri="{FF2B5EF4-FFF2-40B4-BE49-F238E27FC236}">
                <a16:creationId xmlns:a16="http://schemas.microsoft.com/office/drawing/2014/main" id="{FF919DB6-9620-0EDA-A613-5F0E957D8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537" y="1522136"/>
            <a:ext cx="3579000" cy="4600000"/>
          </a:xfrm>
          <a:prstGeom prst="rect">
            <a:avLst/>
          </a:prstGeom>
          <a:ln w="12700">
            <a:solidFill>
              <a:srgbClr val="9A9A9A"/>
            </a:solidFill>
          </a:ln>
        </p:spPr>
      </p:pic>
    </p:spTree>
    <p:extLst>
      <p:ext uri="{BB962C8B-B14F-4D97-AF65-F5344CB8AC3E}">
        <p14:creationId xmlns:p14="http://schemas.microsoft.com/office/powerpoint/2010/main" val="103358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3EA5-5D42-8303-21AE-553B3316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523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Orchestrate architecture blueprint</a:t>
            </a:r>
            <a:br>
              <a:rPr lang="en-US" dirty="0">
                <a:solidFill>
                  <a:schemeClr val="dk1"/>
                </a:solidFill>
              </a:rPr>
            </a:br>
            <a:endParaRPr lang="en-IN" dirty="0"/>
          </a:p>
        </p:txBody>
      </p:sp>
      <p:pic>
        <p:nvPicPr>
          <p:cNvPr id="5" name="Architecture Diagram">
            <a:extLst>
              <a:ext uri="{FF2B5EF4-FFF2-40B4-BE49-F238E27FC236}">
                <a16:creationId xmlns:a16="http://schemas.microsoft.com/office/drawing/2014/main" id="{3E254811-A1D6-0C5D-1E84-5B67A08F5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501" y="1395413"/>
            <a:ext cx="8275493" cy="46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16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61920" y="273632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Role of Agentic AI in the solution </a:t>
            </a:r>
            <a:endParaRPr lang="en-IN" sz="3200" b="1" dirty="0">
              <a:solidFill>
                <a:schemeClr val="accent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286" y="858407"/>
            <a:ext cx="74066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Role of Agentic AI in the Street Vendor Digitalization Agent</a:t>
            </a:r>
          </a:p>
          <a:p>
            <a:pPr algn="just"/>
            <a:r>
              <a:rPr lang="en-US" b="1" dirty="0"/>
              <a:t>Agentic AI</a:t>
            </a:r>
            <a:r>
              <a:rPr lang="en-US" dirty="0"/>
              <a:t> enables the Street Vendor Digitalization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take a vendor from one sentence to a usable digital storefront.</a:t>
            </a:r>
          </a:p>
          <a:p>
            <a:pPr algn="just"/>
            <a:r>
              <a:rPr lang="en-US" dirty="0"/>
              <a:t>Each agent performs a specific role—such as generating a business profile, retrieving relevant schemes, enabling digital payments, and suggesting promotion—while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efficient task execution and accurate, grounded results.</a:t>
            </a:r>
          </a:p>
          <a:p>
            <a:pPr algn="just"/>
            <a:r>
              <a:rPr lang="en-US" dirty="0"/>
              <a:t>Agentic AI also brings </a:t>
            </a:r>
            <a:r>
              <a:rPr lang="en-US" b="1" dirty="0"/>
              <a:t>context awareness</a:t>
            </a:r>
            <a:r>
              <a:rPr lang="en-US" dirty="0"/>
              <a:t>, understanding the vendor’s trade, location, and language to generate tailored guidance. It supports </a:t>
            </a:r>
            <a:r>
              <a:rPr lang="en-US" b="1" dirty="0"/>
              <a:t>real-time adaptation</a:t>
            </a:r>
            <a:r>
              <a:rPr lang="en-US" dirty="0"/>
              <a:t>, grounding every answer in the latest scheme and platform information.</a:t>
            </a:r>
          </a:p>
          <a:p>
            <a:pPr algn="just"/>
            <a:r>
              <a:rPr lang="en-US" dirty="0"/>
              <a:t>Additionally, agents communicate with each other, enabling better decision-making and a coherent end-to-end action plan.</a:t>
            </a:r>
          </a:p>
          <a:p>
            <a:pPr algn="just"/>
            <a:r>
              <a:rPr lang="en-US" dirty="0"/>
              <a:t>Overall, Agentic AI makes the system proactive, personalized, and goal-driven, acting like a </a:t>
            </a:r>
            <a:r>
              <a:rPr lang="en-US" b="1" dirty="0"/>
              <a:t>smart digital onboarding assistant</a:t>
            </a:r>
            <a:r>
              <a:rPr lang="en-US" dirty="0"/>
              <a:t> that helps vendors go digital in minutes, not weeks.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D57C-B3DD-52CB-EB84-9B29F9CD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87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Novelty and Uniqueness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31D2-86E4-BD52-7ED5-BD12B1EB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511"/>
            <a:ext cx="8596668" cy="4605852"/>
          </a:xfrm>
        </p:spPr>
        <p:txBody>
          <a:bodyPr/>
          <a:lstStyle/>
          <a:p>
            <a:pPr algn="just"/>
            <a:r>
              <a:rPr lang="en-IN" dirty="0"/>
              <a:t>The proposed Street Vendor Digitalization Agent stands out by combining </a:t>
            </a:r>
            <a:r>
              <a:rPr lang="en-IN" b="1" dirty="0"/>
              <a:t>Agentic AI, RAG, and hyperlocal personalization</a:t>
            </a:r>
            <a:r>
              <a:rPr lang="en-IN" dirty="0"/>
              <a:t> into a single intelligent system.</a:t>
            </a:r>
          </a:p>
          <a:p>
            <a:pPr algn="just"/>
            <a:r>
              <a:rPr lang="en-IN" b="1" dirty="0"/>
              <a:t>Multi-Agent Intelligence</a:t>
            </a:r>
            <a:r>
              <a:rPr lang="en-IN" dirty="0"/>
              <a:t> – Instead of a single chatbot, four specialized agents collaborate to deliver a complete, actionable digital onboarding plan. </a:t>
            </a:r>
          </a:p>
          <a:p>
            <a:pPr algn="just"/>
            <a:r>
              <a:rPr lang="en-IN" b="1" dirty="0"/>
              <a:t>RAG-Based Accuracy</a:t>
            </a:r>
            <a:r>
              <a:rPr lang="en-IN" dirty="0"/>
              <a:t> – Integrates real-time scheme and platform data retrieval with AI generation, reducing misinformation and ensuring trustworthy guidance. </a:t>
            </a:r>
          </a:p>
          <a:p>
            <a:pPr algn="just"/>
            <a:r>
              <a:rPr lang="en-IN" b="1" dirty="0"/>
              <a:t>Hyper-Personalization</a:t>
            </a:r>
            <a:r>
              <a:rPr lang="en-IN" dirty="0"/>
              <a:t> – Tailors business names, pricing tips, and promotion ideas to the vendor’s exact trade and location. </a:t>
            </a:r>
          </a:p>
          <a:p>
            <a:pPr algn="just"/>
            <a:r>
              <a:rPr lang="en-IN" b="1" dirty="0"/>
              <a:t>One-Sentence Onboarding</a:t>
            </a:r>
            <a:r>
              <a:rPr lang="en-IN" dirty="0"/>
              <a:t> – Converts a single plain-language sentence into a complete digital storefront plan, removing the biggest usability barrier for low-digital-literacy users.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91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D0B1-0BB8-529D-09E5-DC13A1D7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6194" y="609601"/>
            <a:ext cx="167148" cy="20647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66019-6929-D411-77A8-F3BDA9681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83226"/>
            <a:ext cx="8596668" cy="5058136"/>
          </a:xfrm>
        </p:spPr>
        <p:txBody>
          <a:bodyPr/>
          <a:lstStyle/>
          <a:p>
            <a:pPr algn="just"/>
            <a:r>
              <a:rPr lang="en-IN" b="1" dirty="0"/>
              <a:t>Multi-Language Ready</a:t>
            </a:r>
            <a:r>
              <a:rPr lang="en-IN" dirty="0"/>
              <a:t> – Designed to accept and respond in regional Indian languages for real accessibility. </a:t>
            </a:r>
          </a:p>
          <a:p>
            <a:pPr algn="just"/>
            <a:r>
              <a:rPr lang="en-IN" b="1" dirty="0"/>
              <a:t>Financial Inclusion Focus</a:t>
            </a:r>
            <a:r>
              <a:rPr lang="en-IN" dirty="0"/>
              <a:t> – Goes beyond visibility to connect vendors with credit-access schemes like PM </a:t>
            </a:r>
            <a:r>
              <a:rPr lang="en-IN" dirty="0" err="1"/>
              <a:t>SVANidhi</a:t>
            </a:r>
            <a:r>
              <a:rPr lang="en-IN" dirty="0"/>
              <a:t>. </a:t>
            </a:r>
          </a:p>
          <a:p>
            <a:pPr algn="just"/>
            <a:r>
              <a:rPr lang="en-IN" b="1" dirty="0"/>
              <a:t>Scalable &amp; Enterprise-Ready</a:t>
            </a:r>
            <a:r>
              <a:rPr lang="en-IN" dirty="0"/>
              <a:t> – Built on </a:t>
            </a:r>
            <a:r>
              <a:rPr lang="en-IN" b="1" dirty="0"/>
              <a:t>IBM watsonx.ai</a:t>
            </a:r>
            <a:r>
              <a:rPr lang="en-IN" dirty="0"/>
              <a:t> with </a:t>
            </a:r>
            <a:r>
              <a:rPr lang="en-IN" b="1" dirty="0"/>
              <a:t>IBM Granite models</a:t>
            </a:r>
            <a:r>
              <a:rPr lang="en-IN" dirty="0"/>
              <a:t>, ensuring reliability and governance for a national rollout. </a:t>
            </a:r>
          </a:p>
          <a:p>
            <a:pPr algn="just"/>
            <a:r>
              <a:rPr lang="en-IN" dirty="0"/>
              <a:t>This makes the solution a </a:t>
            </a:r>
            <a:r>
              <a:rPr lang="en-IN" b="1" dirty="0"/>
              <a:t>smart, adaptive digital onboarding partner</a:t>
            </a:r>
            <a:r>
              <a:rPr lang="en-IN" dirty="0"/>
              <a:t>, not just a static profile generator.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8398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2DB9-B841-6E46-FDEC-697EF15B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6142"/>
            <a:ext cx="8596668" cy="7079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ym typeface="Times New Roman" panose="02020603050405020304"/>
              </a:rPr>
              <a:t>Future Scope </a:t>
            </a:r>
            <a:br>
              <a:rPr lang="en-US" b="1" dirty="0">
                <a:sym typeface="Times New Roman" panose="020206030504050203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FEFCF-2029-78BB-88B0-F2E6360A3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50375"/>
            <a:ext cx="8596668" cy="5220928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62000"/>
              </a:lnSpc>
              <a:spcBef>
                <a:spcPts val="0"/>
              </a:spcBef>
              <a:buClr>
                <a:srgbClr val="2B3541"/>
              </a:buClr>
              <a:buSzPts val="1850"/>
              <a:buNone/>
            </a:pPr>
            <a:r>
              <a:rPr lang="en-US" sz="1600" b="1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b="1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Voice-First &amp; WhatsApp Deployment – </a:t>
            </a:r>
          </a:p>
          <a:p>
            <a:pPr marL="0" lvl="0" indent="0" algn="just">
              <a:lnSpc>
                <a:spcPct val="162000"/>
              </a:lnSpc>
              <a:spcBef>
                <a:spcPts val="0"/>
              </a:spcBef>
              <a:buClr>
                <a:srgbClr val="2B3541"/>
              </a:buClr>
              <a:buSzPts val="1850"/>
              <a:buNone/>
            </a:pPr>
            <a:r>
              <a:rPr lang="en-US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agent can be deployed as a WhatsApp bot with voice input support, reaching vendors who are not comfortable typing and giving near-universal access without requiring an app install.</a:t>
            </a:r>
          </a:p>
          <a:p>
            <a:pPr marL="0" lvl="0" indent="0" algn="just">
              <a:lnSpc>
                <a:spcPct val="162000"/>
              </a:lnSpc>
              <a:spcBef>
                <a:spcPts val="0"/>
              </a:spcBef>
              <a:buClr>
                <a:srgbClr val="2B3541"/>
              </a:buClr>
              <a:buSzPts val="1850"/>
              <a:buNone/>
            </a:pPr>
            <a:r>
              <a:rPr lang="en-US" b="1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2.Transaction-Based Credit Scoring </a:t>
            </a:r>
            <a:r>
              <a:rPr lang="en-US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</a:t>
            </a:r>
          </a:p>
          <a:p>
            <a:pPr marL="0" lvl="0" indent="0" algn="just">
              <a:lnSpc>
                <a:spcPct val="162000"/>
              </a:lnSpc>
              <a:spcBef>
                <a:spcPts val="0"/>
              </a:spcBef>
              <a:buClr>
                <a:srgbClr val="2B3541"/>
              </a:buClr>
              <a:buSzPts val="1850"/>
              <a:buNone/>
            </a:pPr>
            <a:r>
              <a:rPr lang="en-US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 tracking UPI transaction history after onboarding, the agent can build a credit-readiness score, creating a direct bridge from digital payment adoption to formal micro-credit eligibility.</a:t>
            </a:r>
          </a:p>
          <a:p>
            <a:pPr marL="0" lvl="0" indent="0" algn="just">
              <a:lnSpc>
                <a:spcPct val="162000"/>
              </a:lnSpc>
              <a:spcBef>
                <a:spcPts val="0"/>
              </a:spcBef>
              <a:buClr>
                <a:srgbClr val="2B3541"/>
              </a:buClr>
              <a:buSzPts val="1850"/>
              <a:buNone/>
            </a:pPr>
            <a:r>
              <a:rPr lang="en-US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Inventory &amp; micro-loan agents – extending the same Granite + RAG pattern to stock tracking and credit eligibility checks</a:t>
            </a:r>
          </a:p>
          <a:p>
            <a:pPr marL="0" lvl="0" indent="0" algn="just">
              <a:lnSpc>
                <a:spcPct val="162000"/>
              </a:lnSpc>
              <a:spcBef>
                <a:spcPts val="0"/>
              </a:spcBef>
              <a:buClr>
                <a:srgbClr val="2B3541"/>
              </a:buClr>
              <a:buSzPts val="1850"/>
              <a:buNone/>
            </a:pPr>
            <a:r>
              <a:rPr lang="en-US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Direct government portal integration – automated submission to PM </a:t>
            </a:r>
            <a:r>
              <a:rPr lang="en-US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SVANidhi</a:t>
            </a:r>
            <a:r>
              <a:rPr lang="en-US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ONDC, removing manual steps.</a:t>
            </a:r>
            <a:endParaRPr lang="en-US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893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9C4A-13D5-CCB4-9DC3-FE34981B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3458"/>
            <a:ext cx="8596668" cy="924232"/>
          </a:xfrm>
        </p:spPr>
        <p:txBody>
          <a:bodyPr/>
          <a:lstStyle/>
          <a:p>
            <a:r>
              <a:rPr lang="en-US" b="1" dirty="0" err="1"/>
              <a:t>Credly</a:t>
            </a:r>
            <a:r>
              <a:rPr lang="en-US" b="1" dirty="0"/>
              <a:t> Certificate</a:t>
            </a:r>
            <a:endParaRPr lang="en-IN" dirty="0"/>
          </a:p>
        </p:txBody>
      </p:sp>
      <p:pic>
        <p:nvPicPr>
          <p:cNvPr id="5" name="Credly Certificate">
            <a:extLst>
              <a:ext uri="{FF2B5EF4-FFF2-40B4-BE49-F238E27FC236}">
                <a16:creationId xmlns:a16="http://schemas.microsoft.com/office/drawing/2014/main" id="{6BDD4254-8DCF-8A2E-1E74-1888F8DD1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061" y="1376363"/>
            <a:ext cx="6037915" cy="4665662"/>
          </a:xfrm>
          <a:prstGeom prst="rect">
            <a:avLst/>
          </a:prstGeom>
          <a:ln w="15875">
            <a:solidFill>
              <a:srgbClr val="9A9A9A"/>
            </a:solidFill>
          </a:ln>
        </p:spPr>
      </p:pic>
    </p:spTree>
    <p:extLst>
      <p:ext uri="{BB962C8B-B14F-4D97-AF65-F5344CB8AC3E}">
        <p14:creationId xmlns:p14="http://schemas.microsoft.com/office/powerpoint/2010/main" val="3795409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8D12-7095-80A6-5A44-FB0F3C36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4903"/>
          </a:xfrm>
        </p:spPr>
        <p:txBody>
          <a:bodyPr/>
          <a:lstStyle/>
          <a:p>
            <a:r>
              <a:rPr lang="en-US" b="1" dirty="0"/>
              <a:t>IBM BOB Certificate</a:t>
            </a:r>
            <a:endParaRPr lang="en-IN" dirty="0"/>
          </a:p>
        </p:txBody>
      </p:sp>
      <p:pic>
        <p:nvPicPr>
          <p:cNvPr id="5" name="IBM BOB Certificate">
            <a:extLst>
              <a:ext uri="{FF2B5EF4-FFF2-40B4-BE49-F238E27FC236}">
                <a16:creationId xmlns:a16="http://schemas.microsoft.com/office/drawing/2014/main" id="{334B40B3-DE65-D698-54C7-CF0EE12AE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855" y="1493839"/>
            <a:ext cx="6510327" cy="4543168"/>
          </a:xfrm>
          <a:prstGeom prst="rect">
            <a:avLst/>
          </a:prstGeom>
          <a:ln w="15875">
            <a:solidFill>
              <a:srgbClr val="9A9A9A"/>
            </a:solidFill>
          </a:ln>
        </p:spPr>
      </p:pic>
    </p:spTree>
    <p:extLst>
      <p:ext uri="{BB962C8B-B14F-4D97-AF65-F5344CB8AC3E}">
        <p14:creationId xmlns:p14="http://schemas.microsoft.com/office/powerpoint/2010/main" val="2404275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1384</Words>
  <Application>Microsoft Office PowerPoint</Application>
  <PresentationFormat>Widescreen</PresentationFormat>
  <Paragraphs>88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Times New Roman</vt:lpstr>
      <vt:lpstr>Trebuchet MS</vt:lpstr>
      <vt:lpstr>Wingdings 3</vt:lpstr>
      <vt:lpstr>Facet</vt:lpstr>
      <vt:lpstr>IBM University Engagement Project Submission </vt:lpstr>
      <vt:lpstr>PowerPoint Presentation</vt:lpstr>
      <vt:lpstr>Problem Statement</vt:lpstr>
      <vt:lpstr>PowerPoint Presentation</vt:lpstr>
      <vt:lpstr>Proposed Solution</vt:lpstr>
      <vt:lpstr>PowerPoint Presentation</vt:lpstr>
      <vt:lpstr>Technologies Used</vt:lpstr>
      <vt:lpstr>Orchestrate components used</vt:lpstr>
      <vt:lpstr>Agent Instructions Screenshot </vt:lpstr>
      <vt:lpstr>Document Uploaded Screenshot</vt:lpstr>
      <vt:lpstr>Prompt with output Screenshot</vt:lpstr>
      <vt:lpstr>Other Applicable Screenshots </vt:lpstr>
      <vt:lpstr>Orchestrate architecture blueprint </vt:lpstr>
      <vt:lpstr>PowerPoint Presentation</vt:lpstr>
      <vt:lpstr>Novelty and Uniqueness </vt:lpstr>
      <vt:lpstr>PowerPoint Presentation</vt:lpstr>
      <vt:lpstr>Future Scope  </vt:lpstr>
      <vt:lpstr>Credly Certificate</vt:lpstr>
      <vt:lpstr>IBM BOB Certificate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Tejaswini A</cp:lastModifiedBy>
  <cp:revision>100</cp:revision>
  <dcterms:created xsi:type="dcterms:W3CDTF">2025-07-08T05:06:00Z</dcterms:created>
  <dcterms:modified xsi:type="dcterms:W3CDTF">2026-07-15T02:20:52Z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5A4DF30BFFB94ACDB1C176C49702DBC3_12</vt:lpwstr>
  </property>
</Properties>
</file>